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Somos o Grupo 203. Este é o ToggleMaster na Fase 3: a mesma aplicação da Fase 2, agora com a infraestrutura em código, segurança no pipeline e deploy por GitOps.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Apresentar os cinco integrantes do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problema: deploy manual com kubectl, credenciais em texto, uma vulnerabilidade que chegou à produção e um ambiente que leva dias para recriar. A regra passou a ser: se não está no código, não existe.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técnicos: Terraform para toda a infraestrutura, com o estado no S3; um pipeline DevSecOps por serviço que bloqueia vulnerabilidade crítica; e GitOps com o ArgoCD sincronizando o cluster sozinho.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três entregáveis: este vídeo, de até 20 minutos; o código no repositório; e o relatório com os integrantes, os links, os desafios e a estimativa de custo.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Estes são os pontos que a FIAP pediu para ver no vídeo, e como cada um aparece na nossa demonstração.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a demonstração: infraestrutura, pipeline de segurança, GitOps e ArgoCD.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33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 da FI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4018" y="457200"/>
            <a:ext cx="1594757" cy="4572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13248" y="1371600"/>
            <a:ext cx="1362456" cy="70408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163147" y="1463131"/>
            <a:ext cx="521025" cy="52102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ToggleMaster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37560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>
                <a:solidFill>
                  <a:srgbClr val="BFE8E0"/>
                </a:solidFill>
                <a:latin typeface="Calibri"/>
              </a:rPr>
              <a:t>Infraestrutura como código, DevSecOps e GitOps na AWS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7504" y="4206240"/>
            <a:ext cx="3657600" cy="54864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Tech Challenge — Fase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8FB8B2"/>
                </a:solidFill>
                <a:latin typeface="Calibri"/>
              </a:rPr>
              <a:t>Grupo 203  ·  FIAP POSTECH  ·  DevOps e Arquitetura Cloud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02920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5279" y="540959"/>
            <a:ext cx="216529" cy="21652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329184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237"/>
                </a:solidFill>
                <a:latin typeface="Calibri"/>
              </a:rPr>
              <a:t>Integrantes do Grupo 203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32688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7176"/>
                </a:solidFill>
                <a:latin typeface="Calibri"/>
              </a:rPr>
              <a:t>Quem assina esta entrega</a:t>
            </a:r>
          </a:p>
        </p:txBody>
      </p:sp>
      <p:pic>
        <p:nvPicPr>
          <p:cNvPr id="6" name="Picture 5" descr="Logo da FI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6759" y="475488"/>
            <a:ext cx="1212015" cy="347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0080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7176"/>
                </a:solidFill>
                <a:latin typeface="Calibri"/>
              </a:rPr>
              <a:t>Tech Challenge — Fase 3 · Grupo 203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7176"/>
                </a:solidFill>
                <a:latin typeface="Calibri"/>
              </a:rPr>
              <a:t>2 /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887" y="164592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5207" y="2148840"/>
            <a:ext cx="822960" cy="82296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6767" y="1828800"/>
            <a:ext cx="187452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3237"/>
                </a:solidFill>
                <a:latin typeface="Calibri"/>
              </a:rPr>
              <a:t>Douglas Deveza dos Santos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B7176"/>
                </a:solidFill>
                <a:latin typeface="Calibri"/>
              </a:rPr>
              <a:t>RM373827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028090"/>
                </a:solidFill>
                <a:latin typeface="Calibri"/>
              </a:rPr>
              <a:t>@Douglasdeveza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4207" y="164592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78527" y="2148840"/>
            <a:ext cx="822960" cy="82296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30087" y="1828800"/>
            <a:ext cx="187452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3237"/>
                </a:solidFill>
                <a:latin typeface="Calibri"/>
              </a:rPr>
              <a:t>Gabriel Pinelli Silva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B7176"/>
                </a:solidFill>
                <a:latin typeface="Calibri"/>
              </a:rPr>
              <a:t>RM373763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028090"/>
                </a:solidFill>
                <a:latin typeface="Calibri"/>
              </a:rPr>
              <a:t>@Tocaccelli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7527" y="164592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81847" y="2148840"/>
            <a:ext cx="822960" cy="82296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JB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3407" y="1828800"/>
            <a:ext cx="187452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3237"/>
                </a:solidFill>
                <a:latin typeface="Calibri"/>
              </a:rPr>
              <a:t>João Carlos da Silva Brito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B7176"/>
                </a:solidFill>
                <a:latin typeface="Calibri"/>
              </a:rPr>
              <a:t>RM371738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028090"/>
                </a:solidFill>
                <a:latin typeface="Calibri"/>
              </a:rPr>
              <a:t>@Durmiand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52547" y="379476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826867" y="4297680"/>
            <a:ext cx="822960" cy="82296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8427" y="3977640"/>
            <a:ext cx="187452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3237"/>
                </a:solidFill>
                <a:latin typeface="Calibri"/>
              </a:rPr>
              <a:t>João Gabriel da Cruz Sales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B7176"/>
                </a:solidFill>
                <a:latin typeface="Calibri"/>
              </a:rPr>
              <a:t>RM372444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028090"/>
                </a:solidFill>
                <a:latin typeface="Calibri"/>
              </a:rPr>
              <a:t>@jgabrieldev1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5867" y="379476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30187" y="4297680"/>
            <a:ext cx="822960" cy="82296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JC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1747" y="3977640"/>
            <a:ext cx="187452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3237"/>
                </a:solidFill>
                <a:latin typeface="Calibri"/>
              </a:rPr>
              <a:t>João Vitor de Jesus Ciardullo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B7176"/>
                </a:solidFill>
                <a:latin typeface="Calibri"/>
              </a:rPr>
              <a:t>RM372155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028090"/>
                </a:solidFill>
                <a:latin typeface="Calibri"/>
              </a:rPr>
              <a:t>@joaociardullo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02920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5279" y="540959"/>
            <a:ext cx="216529" cy="21652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329184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237"/>
                </a:solidFill>
                <a:latin typeface="Calibri"/>
              </a:rPr>
              <a:t>O desafio da Fase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32688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7176"/>
                </a:solidFill>
                <a:latin typeface="Calibri"/>
              </a:rPr>
              <a:t>A arquitetura da Fase 2 foi aprovada, mas operar ficou insustentável</a:t>
            </a:r>
          </a:p>
        </p:txBody>
      </p:sp>
      <p:pic>
        <p:nvPicPr>
          <p:cNvPr id="6" name="Picture 5" descr="Logo da FI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6759" y="475488"/>
            <a:ext cx="1212015" cy="347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0080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7176"/>
                </a:solidFill>
                <a:latin typeface="Calibri"/>
              </a:rPr>
              <a:t>Tech Challenge — Fase 3 · Grupo 203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7176"/>
                </a:solidFill>
                <a:latin typeface="Calibri"/>
              </a:rPr>
              <a:t>3 /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6309360" cy="1005840"/>
          </a:xfrm>
          <a:prstGeom prst="roundRect">
            <a:avLst>
              <a:gd name="adj" fmla="val 10909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1714500"/>
            <a:ext cx="502920" cy="50292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5544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3237"/>
                </a:solidFill>
                <a:latin typeface="Calibri"/>
              </a:rPr>
              <a:t>Deploy feito à mão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B7176"/>
                </a:solidFill>
                <a:latin typeface="Calibri"/>
              </a:rPr>
              <a:t>Desenvolvedores rodam kubectl apply da própria máquina e geram conflitos de versão.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06040"/>
            <a:ext cx="6309360" cy="1005840"/>
          </a:xfrm>
          <a:prstGeom prst="roundRect">
            <a:avLst>
              <a:gd name="adj" fmla="val 10909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2857500"/>
            <a:ext cx="502920" cy="50292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6974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3237"/>
                </a:solidFill>
                <a:latin typeface="Calibri"/>
              </a:rPr>
              <a:t>Credenciais expostas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B7176"/>
                </a:solidFill>
                <a:latin typeface="Calibri"/>
              </a:rPr>
              <a:t>As senhas do banco de dados circulam em arquivos de texto, sem segurança.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49039"/>
            <a:ext cx="6309360" cy="1005840"/>
          </a:xfrm>
          <a:prstGeom prst="roundRect">
            <a:avLst>
              <a:gd name="adj" fmla="val 10909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000500"/>
            <a:ext cx="502920" cy="50292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840479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3237"/>
                </a:solidFill>
                <a:latin typeface="Calibri"/>
              </a:rPr>
              <a:t>Vulnerabilidade em produção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B7176"/>
                </a:solidFill>
                <a:latin typeface="Calibri"/>
              </a:rPr>
              <a:t>Uma falha numa biblioteca Go passou despercebida e chegou à produção.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92040"/>
            <a:ext cx="6309360" cy="1005840"/>
          </a:xfrm>
          <a:prstGeom prst="roundRect">
            <a:avLst>
              <a:gd name="adj" fmla="val 10909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" y="5143500"/>
            <a:ext cx="502920" cy="50292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983479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3237"/>
                </a:solidFill>
                <a:latin typeface="Calibri"/>
              </a:rPr>
              <a:t>Ambiente que leva dias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B7176"/>
                </a:solidFill>
                <a:latin typeface="Calibri"/>
              </a:rPr>
              <a:t>A homologação foi criada à mão no console e demora dias para ser recriada.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1463040"/>
            <a:ext cx="4602175" cy="4434840"/>
          </a:xfrm>
          <a:prstGeom prst="roundRect">
            <a:avLst>
              <a:gd name="adj" fmla="val 2474"/>
            </a:avLst>
          </a:prstGeom>
          <a:solidFill>
            <a:srgbClr val="073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1783080"/>
            <a:ext cx="38706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FE8E0"/>
                </a:solidFill>
                <a:latin typeface="Calibri"/>
              </a:rPr>
              <a:t>A ordem agora 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148840"/>
            <a:ext cx="387065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“Se não está no código, não existe.”</a:t>
            </a:r>
          </a:p>
        </p:txBody>
      </p:sp>
      <p:sp>
        <p:nvSpPr>
          <p:cNvPr id="24" name="Oval 23"/>
          <p:cNvSpPr/>
          <p:nvPr/>
        </p:nvSpPr>
        <p:spPr>
          <a:xfrm>
            <a:off x="7452360" y="3364992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7333A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291840"/>
            <a:ext cx="32762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Infraestrutura imutável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BFE8E0"/>
                </a:solidFill>
                <a:latin typeface="Calibri"/>
              </a:rPr>
              <a:t>Tudo criado por código, com Terraform</a:t>
            </a:r>
          </a:p>
        </p:txBody>
      </p:sp>
      <p:sp>
        <p:nvSpPr>
          <p:cNvPr id="26" name="Oval 25"/>
          <p:cNvSpPr/>
          <p:nvPr/>
        </p:nvSpPr>
        <p:spPr>
          <a:xfrm>
            <a:off x="7452360" y="3986784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7333A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913632"/>
            <a:ext cx="32762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Pipelines de segurança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BFE8E0"/>
                </a:solidFill>
                <a:latin typeface="Calibri"/>
              </a:rPr>
              <a:t>DevSecOps barrando vulnerabilidades</a:t>
            </a:r>
          </a:p>
        </p:txBody>
      </p:sp>
      <p:sp>
        <p:nvSpPr>
          <p:cNvPr id="28" name="Oval 27"/>
          <p:cNvSpPr/>
          <p:nvPr/>
        </p:nvSpPr>
        <p:spPr>
          <a:xfrm>
            <a:off x="7452360" y="4608576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7333A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535424"/>
            <a:ext cx="32762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Deploy por GitOps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BFE8E0"/>
                </a:solidFill>
                <a:latin typeface="Calibri"/>
              </a:rPr>
              <a:t>O ArgoCD aplica o que está no Git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5212079"/>
            <a:ext cx="3870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FB8B2"/>
                </a:solidFill>
                <a:latin typeface="Calibri"/>
              </a:rPr>
              <a:t>Para os 5 microsserviços: auth, flag, targeting, evaluation e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02920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5279" y="540959"/>
            <a:ext cx="216529" cy="21652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329184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237"/>
                </a:solidFill>
                <a:latin typeface="Calibri"/>
              </a:rPr>
              <a:t>Requisitos técnicos mínimos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32688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7176"/>
                </a:solidFill>
                <a:latin typeface="Calibri"/>
              </a:rPr>
              <a:t>O que o enunciado exige em cada frente</a:t>
            </a:r>
          </a:p>
        </p:txBody>
      </p:sp>
      <p:pic>
        <p:nvPicPr>
          <p:cNvPr id="6" name="Picture 5" descr="Logo da FI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6759" y="475488"/>
            <a:ext cx="1212015" cy="347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0080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7176"/>
                </a:solidFill>
                <a:latin typeface="Calibri"/>
              </a:rPr>
              <a:t>Tech Challenge — Fase 3 · Grupo 203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7176"/>
                </a:solidFill>
                <a:latin typeface="Calibri"/>
              </a:rPr>
              <a:t>4 /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3566160" cy="4297680"/>
          </a:xfrm>
          <a:prstGeom prst="roundRect">
            <a:avLst>
              <a:gd name="adj" fmla="val 3076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27632"/>
            <a:ext cx="24231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3237"/>
                </a:solidFill>
                <a:latin typeface="Calibri"/>
              </a:rPr>
              <a:t>Infraestrutura como código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Terraform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60320"/>
            <a:ext cx="3063239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900"/>
              </a:spcAft>
              <a:buClr>
                <a:srgbClr val="02C39A"/>
              </a:buClr>
              <a:buFont typeface="Arial"/>
              <a:buChar char="•"/>
            </a:pPr>
            <a:r>
              <a:rPr sz="1400" b="0">
                <a:solidFill>
                  <a:srgbClr val="1F3237"/>
                </a:solidFill>
                <a:latin typeface="Calibri"/>
              </a:rPr>
              <a:t>Rede: VPC, subnets públicas e privadas, Internet Gateway e route tables</a:t>
            </a:r>
          </a:p>
          <a:p>
            <a:pPr algn="l" marL="201168" indent="-201168">
              <a:spcAft>
                <a:spcPts val="900"/>
              </a:spcAft>
              <a:buClr>
                <a:srgbClr val="02C39A"/>
              </a:buClr>
              <a:buFont typeface="Arial"/>
              <a:buChar char="•"/>
            </a:pPr>
            <a:r>
              <a:rPr sz="1400" b="0">
                <a:solidFill>
                  <a:srgbClr val="1F3237"/>
                </a:solidFill>
                <a:latin typeface="Calibri"/>
              </a:rPr>
              <a:t>Cluster EKS com seus Node Groups</a:t>
            </a:r>
          </a:p>
          <a:p>
            <a:pPr algn="l" marL="201168" indent="-201168">
              <a:spcAft>
                <a:spcPts val="900"/>
              </a:spcAft>
              <a:buClr>
                <a:srgbClr val="02C39A"/>
              </a:buClr>
              <a:buFont typeface="Arial"/>
              <a:buChar char="•"/>
            </a:pPr>
            <a:r>
              <a:rPr sz="1400" b="0">
                <a:solidFill>
                  <a:srgbClr val="1F3237"/>
                </a:solidFill>
                <a:latin typeface="Calibri"/>
              </a:rPr>
              <a:t>3 RDS PostgreSQL, 1 ElastiCache Redis e a tabela DynamoDB ToggleMasterAnalytics</a:t>
            </a:r>
          </a:p>
          <a:p>
            <a:pPr algn="l" marL="201168" indent="-201168">
              <a:spcAft>
                <a:spcPts val="900"/>
              </a:spcAft>
              <a:buClr>
                <a:srgbClr val="02C39A"/>
              </a:buClr>
              <a:buFont typeface="Arial"/>
              <a:buChar char="•"/>
            </a:pPr>
            <a:r>
              <a:rPr sz="1400" b="0">
                <a:solidFill>
                  <a:srgbClr val="1F3237"/>
                </a:solidFill>
                <a:latin typeface="Calibri"/>
              </a:rPr>
              <a:t>1 fila SQS e 5 repositórios ECR (criá-los via Terraform é recomendado)</a:t>
            </a:r>
          </a:p>
          <a:p>
            <a:pPr algn="l" marL="201168" indent="-201168">
              <a:spcAft>
                <a:spcPts val="900"/>
              </a:spcAft>
              <a:buClr>
                <a:srgbClr val="02C39A"/>
              </a:buClr>
              <a:buFont typeface="Arial"/>
              <a:buChar char="•"/>
            </a:pPr>
            <a:r>
              <a:rPr sz="1400" b="0">
                <a:solidFill>
                  <a:srgbClr val="1F3237"/>
                </a:solidFill>
                <a:latin typeface="Calibri"/>
              </a:rPr>
              <a:t>Estado remoto em bucket S3: o tfstate nunca fica local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3224" y="1463040"/>
            <a:ext cx="3566160" cy="4297680"/>
          </a:xfrm>
          <a:prstGeom prst="roundRect">
            <a:avLst>
              <a:gd name="adj" fmla="val 3076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87544" y="173736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3344" y="1627632"/>
            <a:ext cx="24231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3237"/>
                </a:solidFill>
                <a:latin typeface="Calibri"/>
              </a:rPr>
              <a:t>CI e DevSecOps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GitHub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544" y="2560320"/>
            <a:ext cx="3063239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900"/>
              </a:spcAft>
              <a:buClr>
                <a:srgbClr val="02C39A"/>
              </a:buClr>
              <a:buFont typeface="Arial"/>
              <a:buChar char="•"/>
            </a:pPr>
            <a:r>
              <a:rPr sz="1400" b="0">
                <a:solidFill>
                  <a:srgbClr val="1F3237"/>
                </a:solidFill>
                <a:latin typeface="Calibri"/>
              </a:rPr>
              <a:t>Um pipeline por microsserviço, a cada pull request e push na main</a:t>
            </a:r>
          </a:p>
          <a:p>
            <a:pPr algn="l" marL="201168" indent="-201168">
              <a:spcAft>
                <a:spcPts val="900"/>
              </a:spcAft>
              <a:buClr>
                <a:srgbClr val="02C39A"/>
              </a:buClr>
              <a:buFont typeface="Arial"/>
              <a:buChar char="•"/>
            </a:pPr>
            <a:r>
              <a:rPr sz="1400" b="0">
                <a:solidFill>
                  <a:srgbClr val="1F3237"/>
                </a:solidFill>
                <a:latin typeface="Calibri"/>
              </a:rPr>
              <a:t>Build, testes unitários e linter</a:t>
            </a:r>
          </a:p>
          <a:p>
            <a:pPr algn="l" marL="201168" indent="-201168">
              <a:spcAft>
                <a:spcPts val="900"/>
              </a:spcAft>
              <a:buClr>
                <a:srgbClr val="02C39A"/>
              </a:buClr>
              <a:buFont typeface="Arial"/>
              <a:buChar char="•"/>
            </a:pPr>
            <a:r>
              <a:rPr sz="1400" b="0">
                <a:solidFill>
                  <a:srgbClr val="1F3237"/>
                </a:solidFill>
                <a:latin typeface="Calibri"/>
              </a:rPr>
              <a:t>SAST no código e SCA nas dependências</a:t>
            </a:r>
          </a:p>
          <a:p>
            <a:pPr algn="l" marL="201168" indent="-201168">
              <a:spcAft>
                <a:spcPts val="900"/>
              </a:spcAft>
              <a:buClr>
                <a:srgbClr val="02C39A"/>
              </a:buClr>
              <a:buFont typeface="Arial"/>
              <a:buChar char="•"/>
            </a:pPr>
            <a:r>
              <a:rPr sz="1400" b="0">
                <a:solidFill>
                  <a:srgbClr val="1F3237"/>
                </a:solidFill>
                <a:latin typeface="Calibri"/>
              </a:rPr>
              <a:t>Vulnerabilidade CRÍTICA faz o pipeline falhar e parar</a:t>
            </a:r>
          </a:p>
          <a:p>
            <a:pPr algn="l" marL="201168" indent="-201168">
              <a:spcAft>
                <a:spcPts val="900"/>
              </a:spcAft>
              <a:buClr>
                <a:srgbClr val="02C39A"/>
              </a:buClr>
              <a:buFont typeface="Arial"/>
              <a:buChar char="•"/>
            </a:pPr>
            <a:r>
              <a:rPr sz="1400" b="0">
                <a:solidFill>
                  <a:srgbClr val="1F3237"/>
                </a:solidFill>
                <a:latin typeface="Calibri"/>
              </a:rPr>
              <a:t>Imagem Docker escaneada e enviada ao ECR com a tag do commit (v1.0.0‑a1b2c3d)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3529" y="1463040"/>
            <a:ext cx="3566160" cy="4297680"/>
          </a:xfrm>
          <a:prstGeom prst="roundRect">
            <a:avLst>
              <a:gd name="adj" fmla="val 3076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97849" y="173736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3649" y="1627632"/>
            <a:ext cx="24231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3237"/>
                </a:solidFill>
                <a:latin typeface="Calibri"/>
              </a:rPr>
              <a:t>CD e GitOps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ArgoCD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7849" y="2560320"/>
            <a:ext cx="3063239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900"/>
              </a:spcAft>
              <a:buClr>
                <a:srgbClr val="02C39A"/>
              </a:buClr>
              <a:buFont typeface="Arial"/>
              <a:buChar char="•"/>
            </a:pPr>
            <a:r>
              <a:rPr sz="1400" b="0">
                <a:solidFill>
                  <a:srgbClr val="1F3237"/>
                </a:solidFill>
                <a:latin typeface="Calibri"/>
              </a:rPr>
              <a:t>Repositório ou pasta só com manifestos Kubernetes ou Helm Charts</a:t>
            </a:r>
          </a:p>
          <a:p>
            <a:pPr algn="l" marL="201168" indent="-201168">
              <a:spcAft>
                <a:spcPts val="900"/>
              </a:spcAft>
              <a:buClr>
                <a:srgbClr val="02C39A"/>
              </a:buClr>
              <a:buFont typeface="Arial"/>
              <a:buChar char="•"/>
            </a:pPr>
            <a:r>
              <a:rPr sz="1400" b="0">
                <a:solidFill>
                  <a:srgbClr val="1F3237"/>
                </a:solidFill>
                <a:latin typeface="Calibri"/>
              </a:rPr>
              <a:t>ArgoCD instalado no EKS, via Helm ou Terraform</a:t>
            </a:r>
          </a:p>
          <a:p>
            <a:pPr algn="l" marL="201168" indent="-201168">
              <a:spcAft>
                <a:spcPts val="900"/>
              </a:spcAft>
              <a:buClr>
                <a:srgbClr val="02C39A"/>
              </a:buClr>
              <a:buFont typeface="Arial"/>
              <a:buChar char="•"/>
            </a:pPr>
            <a:r>
              <a:rPr sz="1400" b="0">
                <a:solidFill>
                  <a:srgbClr val="1F3237"/>
                </a:solidFill>
                <a:latin typeface="Calibri"/>
              </a:rPr>
              <a:t>O CI atualiza a tag da imagem no repositório GitOps</a:t>
            </a:r>
          </a:p>
          <a:p>
            <a:pPr algn="l" marL="201168" indent="-201168">
              <a:spcAft>
                <a:spcPts val="900"/>
              </a:spcAft>
              <a:buClr>
                <a:srgbClr val="02C39A"/>
              </a:buClr>
              <a:buFont typeface="Arial"/>
              <a:buChar char="•"/>
            </a:pPr>
            <a:r>
              <a:rPr sz="1400" b="0">
                <a:solidFill>
                  <a:srgbClr val="1F3237"/>
                </a:solidFill>
                <a:latin typeface="Calibri"/>
              </a:rPr>
              <a:t>O ArgoCD sincroniza as mudanças no cluster sozinho</a:t>
            </a:r>
          </a:p>
          <a:p>
            <a:pPr algn="l" marL="201168" indent="-201168">
              <a:spcAft>
                <a:spcPts val="900"/>
              </a:spcAft>
              <a:buClr>
                <a:srgbClr val="02C39A"/>
              </a:buClr>
              <a:buFont typeface="Arial"/>
              <a:buChar char="•"/>
            </a:pPr>
            <a:r>
              <a:rPr sz="1400" b="0">
                <a:solidFill>
                  <a:srgbClr val="1F3237"/>
                </a:solidFill>
                <a:latin typeface="Calibri"/>
              </a:rPr>
              <a:t>Interface do ArgoCD gerenciando os 5 microsserviços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43600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7176"/>
                </a:solidFill>
                <a:latin typeface="Calibri"/>
              </a:rPr>
              <a:t>Usamos a Opção B do enunciado, conta pessoal na AWS: as roles de IAM também são criadas pelo Terraform.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02920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5279" y="540959"/>
            <a:ext cx="216529" cy="21652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329184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237"/>
                </a:solidFill>
                <a:latin typeface="Calibri"/>
              </a:rPr>
              <a:t>Requisitos mínimos de entrega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32688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7176"/>
                </a:solidFill>
                <a:latin typeface="Calibri"/>
              </a:rPr>
              <a:t>Os três entregáveis obrigatórios da fase</a:t>
            </a:r>
          </a:p>
        </p:txBody>
      </p:sp>
      <p:pic>
        <p:nvPicPr>
          <p:cNvPr id="6" name="Picture 5" descr="Logo da FI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6759" y="475488"/>
            <a:ext cx="1212015" cy="347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0080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7176"/>
                </a:solidFill>
                <a:latin typeface="Calibri"/>
              </a:rPr>
              <a:t>Tech Challenge — Fase 3 · Grupo 203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7176"/>
                </a:solidFill>
                <a:latin typeface="Calibri"/>
              </a:rPr>
              <a:t>5 /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3749039" cy="4343400"/>
          </a:xfrm>
          <a:prstGeom prst="roundRect">
            <a:avLst>
              <a:gd name="adj" fmla="val 2926"/>
            </a:avLst>
          </a:prstGeom>
          <a:solidFill>
            <a:srgbClr val="073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2926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2C39A"/>
                </a:solidFill>
                <a:latin typeface="Calibri"/>
              </a:rPr>
              <a:t>1  ·  VÍDEO DE DEMONSTRAÇÃO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2926079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600" b="1">
                <a:solidFill>
                  <a:srgbClr val="FFFFFF"/>
                </a:solidFill>
                <a:latin typeface="Calibri"/>
              </a:rPr>
              <a:t>20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2926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BFE8E0"/>
                </a:solidFill>
                <a:latin typeface="Calibri"/>
              </a:rPr>
              <a:t>de duração máxima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29260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FB8B2"/>
                </a:solidFill>
                <a:latin typeface="Calibri"/>
              </a:rPr>
              <a:t>IaC, DevSecOps, GitOps e ArgoCD em ação. O que precisa aparecer está no próximo slide.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79" y="1463040"/>
            <a:ext cx="7162495" cy="2103120"/>
          </a:xfrm>
          <a:prstGeom prst="roundRect">
            <a:avLst>
              <a:gd name="adj" fmla="val 5217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00599" y="173736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399" y="1737360"/>
            <a:ext cx="592805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3237"/>
                </a:solidFill>
                <a:latin typeface="Calibri"/>
              </a:rPr>
              <a:t>Código-fonte no repositório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399" y="2377440"/>
            <a:ext cx="59280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300"/>
              </a:spcAft>
              <a:buClr>
                <a:srgbClr val="02C39A"/>
              </a:buClr>
              <a:buFont typeface="Arial"/>
              <a:buChar char="•"/>
            </a:pPr>
            <a:r>
              <a:rPr sz="1400" b="0">
                <a:solidFill>
                  <a:srgbClr val="1F3237"/>
                </a:solidFill>
                <a:latin typeface="Calibri"/>
              </a:rPr>
              <a:t>Todo o código Terraform, bem estruturado e componentizado</a:t>
            </a:r>
          </a:p>
          <a:p>
            <a:pPr algn="l" marL="201168" indent="-201168">
              <a:spcAft>
                <a:spcPts val="300"/>
              </a:spcAft>
              <a:buClr>
                <a:srgbClr val="02C39A"/>
              </a:buClr>
              <a:buFont typeface="Arial"/>
              <a:buChar char="•"/>
            </a:pPr>
            <a:r>
              <a:rPr sz="1400" b="0">
                <a:solidFill>
                  <a:srgbClr val="1F3237"/>
                </a:solidFill>
                <a:latin typeface="Calibri"/>
              </a:rPr>
              <a:t>Workflows .yaml do GitHub Actions com os passos de DevSecOps</a:t>
            </a:r>
          </a:p>
          <a:p>
            <a:pPr algn="l" marL="201168" indent="-201168">
              <a:spcAft>
                <a:spcPts val="300"/>
              </a:spcAft>
              <a:buClr>
                <a:srgbClr val="02C39A"/>
              </a:buClr>
              <a:buFont typeface="Arial"/>
              <a:buChar char="•"/>
            </a:pPr>
            <a:r>
              <a:rPr sz="1400" b="0">
                <a:solidFill>
                  <a:srgbClr val="1F3237"/>
                </a:solidFill>
                <a:latin typeface="Calibri"/>
              </a:rPr>
              <a:t>Manifestos Kubernetes ajustados para o GitOps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79" y="3703320"/>
            <a:ext cx="7162495" cy="2103120"/>
          </a:xfrm>
          <a:prstGeom prst="roundRect">
            <a:avLst>
              <a:gd name="adj" fmla="val 5217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00599" y="397764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3977640"/>
            <a:ext cx="592805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3237"/>
                </a:solidFill>
                <a:latin typeface="Calibri"/>
              </a:rPr>
              <a:t>Relatório de entrega (.PDF ou .txt)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399" y="4617720"/>
            <a:ext cx="59280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300"/>
              </a:spcAft>
              <a:buClr>
                <a:srgbClr val="02C39A"/>
              </a:buClr>
              <a:buFont typeface="Arial"/>
              <a:buChar char="•"/>
            </a:pPr>
            <a:r>
              <a:rPr sz="1400" b="0">
                <a:solidFill>
                  <a:srgbClr val="1F3237"/>
                </a:solidFill>
                <a:latin typeface="Calibri"/>
              </a:rPr>
              <a:t>Nomes dos participantes</a:t>
            </a:r>
          </a:p>
          <a:p>
            <a:pPr algn="l" marL="201168" indent="-201168">
              <a:spcAft>
                <a:spcPts val="300"/>
              </a:spcAft>
              <a:buClr>
                <a:srgbClr val="02C39A"/>
              </a:buClr>
              <a:buFont typeface="Arial"/>
              <a:buChar char="•"/>
            </a:pPr>
            <a:r>
              <a:rPr sz="1400" b="0">
                <a:solidFill>
                  <a:srgbClr val="1F3237"/>
                </a:solidFill>
                <a:latin typeface="Calibri"/>
              </a:rPr>
              <a:t>Link da documentação e do vídeo</a:t>
            </a:r>
          </a:p>
          <a:p>
            <a:pPr algn="l" marL="201168" indent="-201168">
              <a:spcAft>
                <a:spcPts val="300"/>
              </a:spcAft>
              <a:buClr>
                <a:srgbClr val="02C39A"/>
              </a:buClr>
              <a:buFont typeface="Arial"/>
              <a:buChar char="•"/>
            </a:pPr>
            <a:r>
              <a:rPr sz="1400" b="0">
                <a:solidFill>
                  <a:srgbClr val="1F3237"/>
                </a:solidFill>
                <a:latin typeface="Calibri"/>
              </a:rPr>
              <a:t>Resumo dos desafios encontrados e das decisões tomadas</a:t>
            </a:r>
          </a:p>
          <a:p>
            <a:pPr algn="l" marL="201168" indent="-201168">
              <a:spcAft>
                <a:spcPts val="300"/>
              </a:spcAft>
              <a:buClr>
                <a:srgbClr val="02C39A"/>
              </a:buClr>
              <a:buFont typeface="Arial"/>
              <a:buChar char="•"/>
            </a:pPr>
            <a:r>
              <a:rPr sz="1400" b="0">
                <a:solidFill>
                  <a:srgbClr val="1F3237"/>
                </a:solidFill>
                <a:latin typeface="Calibri"/>
              </a:rPr>
              <a:t>Print da estimativa de custos da AWS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02920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5279" y="540959"/>
            <a:ext cx="216529" cy="21652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329184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237"/>
                </a:solidFill>
                <a:latin typeface="Calibri"/>
              </a:rPr>
              <a:t>O que a FIAP quer ver no vídeo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32688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7176"/>
                </a:solidFill>
                <a:latin typeface="Calibri"/>
              </a:rPr>
              <a:t>Cada exigência do enunciado e como ela aparece na demonstração</a:t>
            </a:r>
          </a:p>
        </p:txBody>
      </p:sp>
      <p:pic>
        <p:nvPicPr>
          <p:cNvPr id="6" name="Picture 5" descr="Logo da FI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6759" y="475488"/>
            <a:ext cx="1212015" cy="347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0080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7176"/>
                </a:solidFill>
                <a:latin typeface="Calibri"/>
              </a:rPr>
              <a:t>Tech Challenge — Fase 3 · Grupo 203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7176"/>
                </a:solidFill>
                <a:latin typeface="Calibri"/>
              </a:rPr>
              <a:t>6 /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4173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B7176"/>
                </a:solidFill>
                <a:latin typeface="Calibri"/>
              </a:rPr>
              <a:t>EXIGÊNCIA DO ENUNCIADO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4173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B7176"/>
                </a:solidFill>
                <a:latin typeface="Calibri"/>
              </a:rPr>
              <a:t>COMO MOSTRAMOS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37360"/>
            <a:ext cx="11185855" cy="786384"/>
          </a:xfrm>
          <a:prstGeom prst="roundRect">
            <a:avLst>
              <a:gd name="adj" fmla="val 13953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901952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7333A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801368"/>
            <a:ext cx="5120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3237"/>
                </a:solidFill>
                <a:latin typeface="Calibri"/>
              </a:rPr>
              <a:t>Infraestrutura como código: </a:t>
            </a:r>
            <a:r>
              <a:rPr sz="1400" b="0">
                <a:solidFill>
                  <a:srgbClr val="1F3237"/>
                </a:solidFill>
                <a:latin typeface="Calibri"/>
              </a:rPr>
              <a:t>terraform plan e terraform apply rodando, ou o resultado na AWS: VPC, RDS e EKS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801368"/>
            <a:ext cx="47548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7176"/>
                </a:solidFill>
                <a:latin typeface="Calibri"/>
              </a:rPr>
              <a:t>Plan e apply ao vivo; em seguida VPC, EKS e RDS criados por código no console da AWS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33472"/>
            <a:ext cx="11185855" cy="786384"/>
          </a:xfrm>
          <a:prstGeom prst="roundRect">
            <a:avLst>
              <a:gd name="adj" fmla="val 13953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2798064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7333A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97479"/>
            <a:ext cx="5120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3237"/>
                </a:solidFill>
                <a:latin typeface="Calibri"/>
              </a:rPr>
              <a:t>Pipeline DevSecOps: </a:t>
            </a:r>
            <a:r>
              <a:rPr sz="1400" b="0">
                <a:solidFill>
                  <a:srgbClr val="1F3237"/>
                </a:solidFill>
                <a:latin typeface="Calibri"/>
              </a:rPr>
              <a:t>alterar um microsserviço e ver o pipeline falhar no passo de segurança; corrigir e ver passar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697479"/>
            <a:ext cx="47548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7176"/>
                </a:solidFill>
                <a:latin typeface="Calibri"/>
              </a:rPr>
              <a:t>Dependência vulnerável (PyYAML 5.3.1, CVE crítica) barrada pelo Trivy; atualizada para 6.0.1, o pipeline fica verde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529584"/>
            <a:ext cx="11185855" cy="786384"/>
          </a:xfrm>
          <a:prstGeom prst="roundRect">
            <a:avLst>
              <a:gd name="adj" fmla="val 13953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3694176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7333A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593591"/>
            <a:ext cx="5120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3237"/>
                </a:solidFill>
                <a:latin typeface="Calibri"/>
              </a:rPr>
              <a:t>GitOps: </a:t>
            </a:r>
            <a:r>
              <a:rPr sz="1400" b="0">
                <a:solidFill>
                  <a:srgbClr val="1F3237"/>
                </a:solidFill>
                <a:latin typeface="Calibri"/>
              </a:rPr>
              <a:t>o pipeline atualizando a tag da imagem no repositório de GitOps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593591"/>
            <a:ext cx="47548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7176"/>
                </a:solidFill>
                <a:latin typeface="Calibri"/>
              </a:rPr>
              <a:t>O último job do CI comita a nova tag v1.0.0-&lt;hash&gt; na pasta gitops/ do repositório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425696"/>
            <a:ext cx="11185855" cy="786384"/>
          </a:xfrm>
          <a:prstGeom prst="roundRect">
            <a:avLst>
              <a:gd name="adj" fmla="val 13953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4590288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7333A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489704"/>
            <a:ext cx="5120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3237"/>
                </a:solidFill>
                <a:latin typeface="Calibri"/>
              </a:rPr>
              <a:t>ArgoCD sincronizando: </a:t>
            </a:r>
            <a:r>
              <a:rPr sz="1400" b="0">
                <a:solidFill>
                  <a:srgbClr val="1F3237"/>
                </a:solidFill>
                <a:latin typeface="Calibri"/>
              </a:rPr>
              <a:t>o ArgoCD detectando a mudança e sincronizando a nova versão no cluster, sozinho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489704"/>
            <a:ext cx="47548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7176"/>
                </a:solidFill>
                <a:latin typeface="Calibri"/>
              </a:rPr>
              <a:t>OutOfSync → Synced sem nenhum clique; o Deployment passa a usar a imagem nova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321808"/>
            <a:ext cx="11185855" cy="786384"/>
          </a:xfrm>
          <a:prstGeom prst="roundRect">
            <a:avLst>
              <a:gd name="adj" fmla="val 13953"/>
            </a:avLst>
          </a:prstGeom>
          <a:solidFill>
            <a:srgbClr val="F4FBF9"/>
          </a:solidFill>
          <a:ln w="12700">
            <a:solidFill>
              <a:srgbClr val="D7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" y="548640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7333A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5385816"/>
            <a:ext cx="5120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3237"/>
                </a:solidFill>
                <a:latin typeface="Calibri"/>
              </a:rPr>
              <a:t>ArgoCD com os 5 serviços: </a:t>
            </a:r>
            <a:r>
              <a:rPr sz="1400" b="0">
                <a:solidFill>
                  <a:srgbClr val="1F3237"/>
                </a:solidFill>
                <a:latin typeface="Calibri"/>
              </a:rPr>
              <a:t>a interface do ArgoCD gerenciando os 5 microsserviços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385816"/>
            <a:ext cx="47548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7176"/>
                </a:solidFill>
                <a:latin typeface="Calibri"/>
              </a:rPr>
              <a:t>Aplicação togglemaster Synced e Healthy com auth, flag, targeting, evaluation e analytics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33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 da FI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6759" y="475488"/>
            <a:ext cx="1212015" cy="347472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0" y="914400"/>
            <a:ext cx="1218895" cy="63093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156380" y="996421"/>
            <a:ext cx="466892" cy="4668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6289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Vamos à demonstração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5227" y="3017520"/>
            <a:ext cx="2103120" cy="685800"/>
          </a:xfrm>
          <a:prstGeom prst="roundRect">
            <a:avLst>
              <a:gd name="adj" fmla="val 50000"/>
            </a:avLst>
          </a:prstGeom>
          <a:solidFill>
            <a:srgbClr val="0E4A50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IaC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5227" y="37947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BFE8E0"/>
                </a:solidFill>
                <a:latin typeface="Calibri"/>
              </a:rPr>
              <a:t>Terraform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8347" y="3017520"/>
            <a:ext cx="502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1267" y="3017520"/>
            <a:ext cx="2103120" cy="685800"/>
          </a:xfrm>
          <a:prstGeom prst="roundRect">
            <a:avLst>
              <a:gd name="adj" fmla="val 50000"/>
            </a:avLst>
          </a:prstGeom>
          <a:solidFill>
            <a:srgbClr val="0E4A50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DevSecOps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1267" y="37947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BFE8E0"/>
                </a:solidFill>
                <a:latin typeface="Calibri"/>
              </a:rPr>
              <a:t>GitHub Actions · Trivy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4387" y="3017520"/>
            <a:ext cx="502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7307" y="3017520"/>
            <a:ext cx="2103120" cy="685800"/>
          </a:xfrm>
          <a:prstGeom prst="roundRect">
            <a:avLst>
              <a:gd name="adj" fmla="val 50000"/>
            </a:avLst>
          </a:prstGeom>
          <a:solidFill>
            <a:srgbClr val="0E4A50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GitOps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37947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BFE8E0"/>
                </a:solidFill>
                <a:latin typeface="Calibri"/>
              </a:rPr>
              <a:t>Kustomize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0427" y="3017520"/>
            <a:ext cx="502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3347" y="3017520"/>
            <a:ext cx="2103120" cy="685800"/>
          </a:xfrm>
          <a:prstGeom prst="roundRect">
            <a:avLst>
              <a:gd name="adj" fmla="val 50000"/>
            </a:avLst>
          </a:prstGeom>
          <a:solidFill>
            <a:srgbClr val="0E4A50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ArgoCD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3347" y="37947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BFE8E0"/>
                </a:solidFill>
                <a:latin typeface="Calibri"/>
              </a:rPr>
              <a:t>Sincronização automática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35227" y="4709160"/>
            <a:ext cx="9921240" cy="1097280"/>
          </a:xfrm>
          <a:prstGeom prst="roundRect">
            <a:avLst>
              <a:gd name="adj" fmla="val 10000"/>
            </a:avLst>
          </a:prstGeom>
          <a:solidFill>
            <a:srgbClr val="0E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0987" y="4709160"/>
            <a:ext cx="9189719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02C39A"/>
                </a:solidFill>
                <a:latin typeface="Calibri"/>
              </a:rPr>
              <a:t>Repositório: </a:t>
            </a:r>
            <a:r>
              <a:rPr sz="1500" b="0">
                <a:solidFill>
                  <a:srgbClr val="FFFFFF"/>
                </a:solidFill>
                <a:latin typeface="Calibri"/>
              </a:rPr>
              <a:t>github.com/fiap-devops-arqcloud-2026/tech-challenge-03</a:t>
            </a:r>
          </a:p>
          <a:p>
            <a:pPr algn="ctr">
              <a:spcAft>
                <a:spcPts val="0"/>
              </a:spcAft>
            </a:pPr>
            <a:r>
              <a:rPr sz="1500" b="1">
                <a:solidFill>
                  <a:srgbClr val="02C39A"/>
                </a:solidFill>
                <a:latin typeface="Calibri"/>
              </a:rPr>
              <a:t>Documentação: </a:t>
            </a:r>
            <a:r>
              <a:rPr sz="1500" b="0">
                <a:solidFill>
                  <a:srgbClr val="FFFFFF"/>
                </a:solidFill>
                <a:latin typeface="Calibri"/>
              </a:rPr>
              <a:t>README.md e docs/OPERACAO.md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0080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B8B2"/>
                </a:solidFill>
                <a:latin typeface="Calibri"/>
              </a:rPr>
              <a:t>Tech Challenge — Fase 3 · Grupo 203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17175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FB8B2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ToggleMaster - Tech Challenge Fase 3</dc:title>
  <dc:subject>FIAP POSTECH - DevOps e Arquitetura Cloud</dc:subject>
  <dc:creator>Grupo 203</dc:creator>
  <cp:keywords/>
  <dc:description>generated using python-pptx</dc:description>
  <cp:lastModifiedBy>Grupo 203</cp:lastModifiedBy>
  <cp:revision>1</cp:revision>
  <dcterms:created xsi:type="dcterms:W3CDTF">2013-01-27T09:14:16Z</dcterms:created>
  <dcterms:modified xsi:type="dcterms:W3CDTF">2013-01-27T09:15:58Z</dcterms:modified>
  <cp:category/>
</cp:coreProperties>
</file>